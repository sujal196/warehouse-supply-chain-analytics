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sldIdLst>
    <p:sldId id="256" r:id="rId2"/>
    <p:sldId id="257" r:id="rId3"/>
    <p:sldId id="259" r:id="rId4"/>
    <p:sldId id="260" r:id="rId5"/>
    <p:sldId id="262"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3526222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158770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2992740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97E56BB-AABB-4229-BDDE-215EFE57651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774694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97E56BB-AABB-4229-BDDE-215EFE57651F}" type="datetimeFigureOut">
              <a:rPr lang="en-IN" smtClean="0"/>
              <a:t>04-07-2026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1058337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97E56BB-AABB-4229-BDDE-215EFE57651F}" type="datetimeFigureOut">
              <a:rPr lang="en-IN" smtClean="0"/>
              <a:t>04-07-2026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1623741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7E56BB-AABB-4229-BDDE-215EFE57651F}" type="datetimeFigureOut">
              <a:rPr lang="en-IN" smtClean="0"/>
              <a:t>04-07-2026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169704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97E56BB-AABB-4229-BDDE-215EFE57651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4031295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97E56BB-AABB-4229-BDDE-215EFE57651F}"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240516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3367336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371815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11735920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47109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4207174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355898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97E56BB-AABB-4229-BDDE-215EFE57651F}"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40896-8DBC-423D-9808-EC3D1BE452D6}" type="slidenum">
              <a:rPr lang="en-IN" smtClean="0"/>
              <a:t>‹#›</a:t>
            </a:fld>
            <a:endParaRPr lang="en-IN"/>
          </a:p>
        </p:txBody>
      </p:sp>
    </p:spTree>
    <p:extLst>
      <p:ext uri="{BB962C8B-B14F-4D97-AF65-F5344CB8AC3E}">
        <p14:creationId xmlns:p14="http://schemas.microsoft.com/office/powerpoint/2010/main" val="1426685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97E56BB-AABB-4229-BDDE-215EFE57651F}" type="datetimeFigureOut">
              <a:rPr lang="en-IN" smtClean="0"/>
              <a:t>04-07-2026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2040896-8DBC-423D-9808-EC3D1BE452D6}" type="slidenum">
              <a:rPr lang="en-IN" smtClean="0"/>
              <a:t>‹#›</a:t>
            </a:fld>
            <a:endParaRPr lang="en-IN"/>
          </a:p>
        </p:txBody>
      </p:sp>
    </p:spTree>
    <p:extLst>
      <p:ext uri="{BB962C8B-B14F-4D97-AF65-F5344CB8AC3E}">
        <p14:creationId xmlns:p14="http://schemas.microsoft.com/office/powerpoint/2010/main" val="3085511647"/>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vscode-file://vscode-app/c:/Users/sujal_sahu/AppData/Local/Programs/Microsoft%20VS%20Code/7e7950df89/resources/app/out/vs/code/electron-browser/workbench/workbench.html"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7067" y="281354"/>
            <a:ext cx="6909055" cy="898648"/>
          </a:xfrm>
        </p:spPr>
        <p:txBody>
          <a:bodyPr>
            <a:normAutofit/>
          </a:bodyPr>
          <a:lstStyle/>
          <a:p>
            <a:pPr algn="l"/>
            <a:r>
              <a:rPr lang="en-US" sz="4400" dirty="0" smtClean="0">
                <a:solidFill>
                  <a:schemeClr val="tx1"/>
                </a:solidFill>
              </a:rPr>
              <a:t>Apana Time Tech Solution</a:t>
            </a:r>
            <a:r>
              <a:rPr lang="en-IN" sz="4400" dirty="0" smtClean="0">
                <a:solidFill>
                  <a:schemeClr val="tx1"/>
                </a:solidFill>
              </a:rPr>
              <a:t>s</a:t>
            </a:r>
            <a:endParaRPr lang="en-IN" sz="4800" dirty="0">
              <a:solidFill>
                <a:schemeClr val="tx1"/>
              </a:solidFill>
            </a:endParaRPr>
          </a:p>
        </p:txBody>
      </p:sp>
      <p:sp>
        <p:nvSpPr>
          <p:cNvPr id="3" name="Subtitle 2"/>
          <p:cNvSpPr>
            <a:spLocks noGrp="1"/>
          </p:cNvSpPr>
          <p:nvPr>
            <p:ph type="subTitle" idx="1"/>
          </p:nvPr>
        </p:nvSpPr>
        <p:spPr>
          <a:xfrm>
            <a:off x="1215035" y="1749668"/>
            <a:ext cx="7753117" cy="4237893"/>
          </a:xfrm>
        </p:spPr>
        <p:txBody>
          <a:bodyPr>
            <a:normAutofit fontScale="25000" lnSpcReduction="20000"/>
          </a:bodyPr>
          <a:lstStyle/>
          <a:p>
            <a:pPr algn="ctr"/>
            <a:r>
              <a:rPr lang="en-US" sz="11200" b="1" dirty="0" smtClean="0">
                <a:solidFill>
                  <a:schemeClr val="tx1"/>
                </a:solidFill>
              </a:rPr>
              <a:t>Task 2 Submission Presentation</a:t>
            </a:r>
            <a:r>
              <a:rPr lang="en-US" sz="7200" b="1" dirty="0" smtClean="0">
                <a:solidFill>
                  <a:schemeClr val="tx1"/>
                </a:solidFill>
              </a:rPr>
              <a:t> </a:t>
            </a:r>
            <a:endParaRPr lang="en-US" sz="7200" b="1" dirty="0">
              <a:solidFill>
                <a:schemeClr val="tx1"/>
              </a:solidFill>
            </a:endParaRPr>
          </a:p>
          <a:p>
            <a:pPr algn="just"/>
            <a:endParaRPr lang="en-US" sz="7200" b="1" dirty="0" smtClean="0">
              <a:solidFill>
                <a:schemeClr val="tx1"/>
              </a:solidFill>
            </a:endParaRPr>
          </a:p>
          <a:p>
            <a:pPr algn="just"/>
            <a:endParaRPr lang="en-US" sz="7200" b="1" dirty="0" smtClean="0">
              <a:solidFill>
                <a:schemeClr val="tx1"/>
              </a:solidFill>
            </a:endParaRPr>
          </a:p>
          <a:p>
            <a:pPr algn="just"/>
            <a:r>
              <a:rPr lang="en-US" sz="7200" b="1" dirty="0" smtClean="0">
                <a:solidFill>
                  <a:schemeClr val="tx1"/>
                </a:solidFill>
              </a:rPr>
              <a:t>Project:</a:t>
            </a:r>
            <a:r>
              <a:rPr lang="en-US" sz="7200" dirty="0" smtClean="0">
                <a:solidFill>
                  <a:schemeClr val="tx1"/>
                </a:solidFill>
              </a:rPr>
              <a:t> Supply Chain Management </a:t>
            </a:r>
          </a:p>
          <a:p>
            <a:pPr algn="just"/>
            <a:r>
              <a:rPr lang="en-US" sz="7200" b="1" dirty="0" smtClean="0">
                <a:solidFill>
                  <a:schemeClr val="tx1"/>
                </a:solidFill>
              </a:rPr>
              <a:t>Task No. :</a:t>
            </a:r>
            <a:r>
              <a:rPr lang="en-US" sz="7200" dirty="0" smtClean="0">
                <a:solidFill>
                  <a:schemeClr val="tx1"/>
                </a:solidFill>
              </a:rPr>
              <a:t> 02</a:t>
            </a:r>
          </a:p>
          <a:p>
            <a:pPr algn="just"/>
            <a:r>
              <a:rPr lang="en-US" sz="7200" b="1" dirty="0">
                <a:solidFill>
                  <a:schemeClr val="tx1"/>
                </a:solidFill>
              </a:rPr>
              <a:t>T</a:t>
            </a:r>
            <a:r>
              <a:rPr lang="en-US" sz="7200" b="1" dirty="0" smtClean="0">
                <a:solidFill>
                  <a:schemeClr val="tx1"/>
                </a:solidFill>
              </a:rPr>
              <a:t>ask </a:t>
            </a:r>
            <a:r>
              <a:rPr lang="en-US" sz="7200" b="1" dirty="0">
                <a:solidFill>
                  <a:schemeClr val="tx1"/>
                </a:solidFill>
              </a:rPr>
              <a:t>Assigned Date:</a:t>
            </a:r>
            <a:r>
              <a:rPr lang="en-US" sz="7200" dirty="0">
                <a:solidFill>
                  <a:schemeClr val="tx1"/>
                </a:solidFill>
              </a:rPr>
              <a:t> </a:t>
            </a:r>
            <a:r>
              <a:rPr lang="en-US" sz="7200" dirty="0" smtClean="0">
                <a:solidFill>
                  <a:schemeClr val="tx1"/>
                </a:solidFill>
              </a:rPr>
              <a:t>15th May 2026</a:t>
            </a:r>
          </a:p>
          <a:p>
            <a:pPr algn="just"/>
            <a:r>
              <a:rPr lang="en-US" sz="7200" b="1" dirty="0">
                <a:solidFill>
                  <a:schemeClr val="tx1"/>
                </a:solidFill>
              </a:rPr>
              <a:t>Task Submission Date</a:t>
            </a:r>
            <a:r>
              <a:rPr lang="en-US" sz="7200" dirty="0">
                <a:solidFill>
                  <a:schemeClr val="tx1"/>
                </a:solidFill>
              </a:rPr>
              <a:t>: </a:t>
            </a:r>
            <a:r>
              <a:rPr lang="en-US" sz="7200" dirty="0" smtClean="0">
                <a:solidFill>
                  <a:schemeClr val="tx1"/>
                </a:solidFill>
              </a:rPr>
              <a:t>04th </a:t>
            </a:r>
            <a:r>
              <a:rPr lang="en-US" sz="7200" dirty="0" smtClean="0">
                <a:solidFill>
                  <a:schemeClr val="tx1"/>
                </a:solidFill>
              </a:rPr>
              <a:t>July 2026</a:t>
            </a:r>
          </a:p>
          <a:p>
            <a:pPr algn="just"/>
            <a:endParaRPr lang="en-US" sz="7200" dirty="0">
              <a:solidFill>
                <a:schemeClr val="tx1"/>
              </a:solidFill>
            </a:endParaRPr>
          </a:p>
          <a:p>
            <a:pPr algn="just"/>
            <a:r>
              <a:rPr lang="en-US" sz="7200" b="1" dirty="0" smtClean="0">
                <a:solidFill>
                  <a:schemeClr val="tx1"/>
                </a:solidFill>
              </a:rPr>
              <a:t>Name</a:t>
            </a:r>
            <a:r>
              <a:rPr lang="en-US" sz="7200" dirty="0" smtClean="0">
                <a:solidFill>
                  <a:schemeClr val="tx1"/>
                </a:solidFill>
              </a:rPr>
              <a:t>: Sujal Sahu</a:t>
            </a:r>
          </a:p>
          <a:p>
            <a:pPr algn="just"/>
            <a:r>
              <a:rPr lang="en-US" sz="7200" b="1" dirty="0" smtClean="0">
                <a:solidFill>
                  <a:schemeClr val="tx1"/>
                </a:solidFill>
              </a:rPr>
              <a:t>Project</a:t>
            </a:r>
            <a:r>
              <a:rPr lang="en-US" sz="7200" dirty="0" smtClean="0">
                <a:solidFill>
                  <a:schemeClr val="tx1"/>
                </a:solidFill>
              </a:rPr>
              <a:t>: Analysis of Smart </a:t>
            </a:r>
            <a:r>
              <a:rPr lang="en-US" sz="7200" dirty="0">
                <a:solidFill>
                  <a:schemeClr val="tx1"/>
                </a:solidFill>
              </a:rPr>
              <a:t>Operations &amp; Decision Intelligence </a:t>
            </a:r>
            <a:r>
              <a:rPr lang="en-US" sz="7200" dirty="0" smtClean="0">
                <a:solidFill>
                  <a:schemeClr val="tx1"/>
                </a:solidFill>
              </a:rPr>
              <a:t>System dataset in Python, SQL and Power BI.</a:t>
            </a:r>
          </a:p>
          <a:p>
            <a:pPr algn="l"/>
            <a:endParaRPr lang="en-US" dirty="0" smtClean="0">
              <a:solidFill>
                <a:schemeClr val="tx1"/>
              </a:solidFill>
            </a:endParaRPr>
          </a:p>
          <a:p>
            <a:pPr algn="l"/>
            <a:endParaRPr lang="en-US" dirty="0">
              <a:solidFill>
                <a:schemeClr val="tx1"/>
              </a:solidFill>
            </a:endParaRPr>
          </a:p>
          <a:p>
            <a:r>
              <a:rPr lang="en-US" dirty="0"/>
              <a:t/>
            </a:r>
            <a:br>
              <a:rPr lang="en-US" dirty="0"/>
            </a:br>
            <a:endParaRPr lang="en-US" dirty="0" smtClean="0"/>
          </a:p>
        </p:txBody>
      </p:sp>
    </p:spTree>
    <p:extLst>
      <p:ext uri="{BB962C8B-B14F-4D97-AF65-F5344CB8AC3E}">
        <p14:creationId xmlns:p14="http://schemas.microsoft.com/office/powerpoint/2010/main" val="21864388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76002" y="150172"/>
            <a:ext cx="7935872" cy="898648"/>
          </a:xfrm>
        </p:spPr>
        <p:txBody>
          <a:bodyPr>
            <a:noAutofit/>
          </a:bodyPr>
          <a:lstStyle/>
          <a:p>
            <a:pPr algn="l">
              <a:spcBef>
                <a:spcPts val="1000"/>
              </a:spcBef>
              <a:buClr>
                <a:schemeClr val="accent1"/>
              </a:buClr>
              <a:buSzPct val="80000"/>
            </a:pPr>
            <a:r>
              <a:rPr lang="en-US" sz="4000" b="1" dirty="0">
                <a:solidFill>
                  <a:schemeClr val="tx1"/>
                </a:solidFill>
                <a:latin typeface="Times New Roman" panose="02020603050405020304" pitchFamily="18" charset="0"/>
                <a:ea typeface="+mn-ea"/>
                <a:cs typeface="Times New Roman" panose="02020603050405020304" pitchFamily="18" charset="0"/>
              </a:rPr>
              <a:t>Dataset Overview</a:t>
            </a:r>
            <a:endParaRPr lang="en-IN" sz="4000" b="1" dirty="0">
              <a:solidFill>
                <a:schemeClr val="tx1"/>
              </a:solidFill>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1176003" y="1814200"/>
            <a:ext cx="8302105" cy="3698578"/>
          </a:xfrm>
        </p:spPr>
        <p:txBody>
          <a:bodyPr>
            <a:normAutofit fontScale="25000" lnSpcReduction="20000"/>
          </a:bodyPr>
          <a:lstStyle/>
          <a:p>
            <a:pPr algn="l"/>
            <a:r>
              <a:rPr lang="en-US" sz="7200" b="1" dirty="0">
                <a:solidFill>
                  <a:schemeClr val="tx1"/>
                </a:solidFill>
                <a:latin typeface="Times New Roman" panose="02020603050405020304" pitchFamily="18" charset="0"/>
                <a:cs typeface="Times New Roman" panose="02020603050405020304" pitchFamily="18" charset="0"/>
              </a:rPr>
              <a:t>Smart Operations &amp; Decision Intelligence System </a:t>
            </a:r>
            <a:r>
              <a:rPr lang="en-US" sz="7200" b="1" dirty="0" smtClean="0">
                <a:solidFill>
                  <a:schemeClr val="tx1"/>
                </a:solidFill>
                <a:latin typeface="Times New Roman" panose="02020603050405020304" pitchFamily="18" charset="0"/>
                <a:cs typeface="Times New Roman" panose="02020603050405020304" pitchFamily="18" charset="0"/>
              </a:rPr>
              <a:t>Data:</a:t>
            </a:r>
          </a:p>
          <a:p>
            <a:pPr algn="just">
              <a:lnSpc>
                <a:spcPct val="120000"/>
              </a:lnSpc>
            </a:pPr>
            <a:r>
              <a:rPr lang="en-US" sz="6400" dirty="0">
                <a:solidFill>
                  <a:schemeClr val="tx1"/>
                </a:solidFill>
                <a:latin typeface="Times New Roman" panose="02020603050405020304" pitchFamily="18" charset="0"/>
                <a:cs typeface="Times New Roman" panose="02020603050405020304" pitchFamily="18" charset="0"/>
              </a:rPr>
              <a:t>It is an operations dataset that contains a size of 500 entries with 20 columns. The data </a:t>
            </a:r>
            <a:r>
              <a:rPr lang="en-US" sz="6400" dirty="0" smtClean="0">
                <a:solidFill>
                  <a:schemeClr val="tx1"/>
                </a:solidFill>
                <a:latin typeface="Times New Roman" panose="02020603050405020304" pitchFamily="18" charset="0"/>
                <a:cs typeface="Times New Roman" panose="02020603050405020304" pitchFamily="18" charset="0"/>
                <a:hlinkClick r:id="rId2"/>
              </a:rPr>
              <a:t>Business_Operations_Analyst_data.csv</a:t>
            </a:r>
            <a:r>
              <a:rPr lang="en-US" sz="6400" dirty="0">
                <a:solidFill>
                  <a:schemeClr val="tx1"/>
                </a:solidFill>
                <a:latin typeface="Times New Roman" panose="02020603050405020304" pitchFamily="18" charset="0"/>
                <a:cs typeface="Times New Roman" panose="02020603050405020304" pitchFamily="18" charset="0"/>
              </a:rPr>
              <a:t> holds warehouses and supply-chain information: Warehouse_ID, Location, Current_Stock, Demand_Forecast, Lead_Time_Days, Shipping_Time_Days, Stockout_Risk, Operational_Cost, Supplier_ID, Product_Category, Monthly_Sales, Order_Processing_Time, Return_Rate, Customer_Rating, Warehouse_Capacity, Storage_Cost, Transportation_Cost, Backorder_Quantity, Damaged_Goods, and Employee_Count. It includes both categorical fields (warehouse ID, location, supplier, product category) and numeric measures (inventory levels, demand forecasts, lead/shipping times, cost figures, monthly sales, processing times, return rates, ratings, backorder and damage counts), representing a snapshot of operational performance across multiple U.S. warehouses (e.g., Dallas, Houston, Los Angeles, New York, San Francisco, Seattle, Chicago, Miami, Denver, Atlanta). This dataset contains demand forecasting, inventory optimization, supplier and warehouse performance analysis, cost and capacity planning, and identifying quality or fulfillment issues (backorders, damaged goods).</a:t>
            </a:r>
          </a:p>
          <a:p>
            <a:pPr algn="just"/>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48270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76002" y="150172"/>
            <a:ext cx="7935872" cy="898648"/>
          </a:xfrm>
        </p:spPr>
        <p:txBody>
          <a:bodyPr>
            <a:noAutofit/>
          </a:bodyPr>
          <a:lstStyle/>
          <a:p>
            <a:pPr algn="l">
              <a:spcBef>
                <a:spcPts val="1000"/>
              </a:spcBef>
              <a:buClr>
                <a:schemeClr val="accent1"/>
              </a:buClr>
              <a:buSzPct val="80000"/>
            </a:pPr>
            <a:r>
              <a:rPr lang="en-US" sz="4000" b="1" dirty="0" smtClean="0">
                <a:solidFill>
                  <a:schemeClr val="tx1"/>
                </a:solidFill>
                <a:latin typeface="Times New Roman" panose="02020603050405020304" pitchFamily="18" charset="0"/>
                <a:ea typeface="+mn-ea"/>
                <a:cs typeface="Times New Roman" panose="02020603050405020304" pitchFamily="18" charset="0"/>
              </a:rPr>
              <a:t>Python Task</a:t>
            </a:r>
            <a:r>
              <a:rPr lang="en-US" sz="4400" b="1" dirty="0" smtClean="0">
                <a:solidFill>
                  <a:schemeClr val="tx1"/>
                </a:solidFill>
                <a:latin typeface="Times New Roman" panose="02020603050405020304" pitchFamily="18" charset="0"/>
                <a:ea typeface="+mn-ea"/>
                <a:cs typeface="Times New Roman" panose="02020603050405020304" pitchFamily="18" charset="0"/>
              </a:rPr>
              <a:t> </a:t>
            </a:r>
            <a:endParaRPr lang="en-IN" sz="4400" b="1" dirty="0">
              <a:solidFill>
                <a:schemeClr val="tx1"/>
              </a:solidFill>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1176002" y="1960686"/>
            <a:ext cx="7935872" cy="3297114"/>
          </a:xfrm>
        </p:spPr>
        <p:txBody>
          <a:bodyPr>
            <a:normAutofit fontScale="25000" lnSpcReduction="20000"/>
          </a:bodyPr>
          <a:lstStyle/>
          <a:p>
            <a:pPr algn="l"/>
            <a:r>
              <a:rPr lang="en-US" sz="7200" b="1" dirty="0" smtClean="0">
                <a:solidFill>
                  <a:schemeClr val="tx1"/>
                </a:solidFill>
                <a:latin typeface="Times New Roman" panose="02020603050405020304" pitchFamily="18" charset="0"/>
                <a:cs typeface="Times New Roman" panose="02020603050405020304" pitchFamily="18" charset="0"/>
              </a:rPr>
              <a:t>Exploratory Data Analysis (Using Python, Pandas</a:t>
            </a:r>
            <a:r>
              <a:rPr lang="en-US" sz="7200" b="1" dirty="0" smtClean="0">
                <a:solidFill>
                  <a:schemeClr val="tx1"/>
                </a:solidFill>
                <a:latin typeface="Times New Roman" panose="02020603050405020304" pitchFamily="18" charset="0"/>
                <a:cs typeface="Times New Roman" panose="02020603050405020304" pitchFamily="18" charset="0"/>
              </a:rPr>
              <a:t>):</a:t>
            </a:r>
            <a:endParaRPr lang="en-US" sz="7200" b="1" dirty="0">
              <a:solidFill>
                <a:schemeClr val="tx1"/>
              </a:solidFill>
              <a:latin typeface="Times New Roman" panose="02020603050405020304" pitchFamily="18" charset="0"/>
              <a:cs typeface="Times New Roman" panose="02020603050405020304" pitchFamily="18" charset="0"/>
            </a:endParaRPr>
          </a:p>
          <a:p>
            <a:pPr algn="just">
              <a:lnSpc>
                <a:spcPct val="120000"/>
              </a:lnSpc>
            </a:pPr>
            <a:r>
              <a:rPr lang="en-IN" sz="6400" dirty="0" smtClean="0">
                <a:solidFill>
                  <a:schemeClr val="tx1"/>
                </a:solidFill>
                <a:latin typeface="Times New Roman" panose="02020603050405020304" pitchFamily="18" charset="0"/>
                <a:cs typeface="Times New Roman" panose="02020603050405020304" pitchFamily="18" charset="0"/>
              </a:rPr>
              <a:t>Load </a:t>
            </a:r>
            <a:r>
              <a:rPr lang="en-US" sz="6400" dirty="0">
                <a:solidFill>
                  <a:schemeClr val="tx1"/>
                </a:solidFill>
                <a:latin typeface="Times New Roman" panose="02020603050405020304" pitchFamily="18" charset="0"/>
                <a:cs typeface="Times New Roman" panose="02020603050405020304" pitchFamily="18" charset="0"/>
              </a:rPr>
              <a:t>‘Business_Operations_Analyst_data’</a:t>
            </a:r>
            <a:r>
              <a:rPr lang="en-IN" sz="6400" dirty="0" smtClean="0">
                <a:solidFill>
                  <a:schemeClr val="tx1"/>
                </a:solidFill>
                <a:latin typeface="Times New Roman" panose="02020603050405020304" pitchFamily="18" charset="0"/>
                <a:cs typeface="Times New Roman" panose="02020603050405020304" pitchFamily="18" charset="0"/>
              </a:rPr>
              <a:t> </a:t>
            </a:r>
            <a:r>
              <a:rPr lang="en-IN" sz="6400" dirty="0">
                <a:solidFill>
                  <a:schemeClr val="tx1"/>
                </a:solidFill>
                <a:latin typeface="Times New Roman" panose="02020603050405020304" pitchFamily="18" charset="0"/>
                <a:cs typeface="Times New Roman" panose="02020603050405020304" pitchFamily="18" charset="0"/>
              </a:rPr>
              <a:t>in python using pandas and performed initial data preprocessing, including checking data types, detecting duplicate rows, handling duplicates by removal, fixing incorrect data types, capping outliers using IQR method and feature engineering metrics for the downstream business analysis process. After </a:t>
            </a:r>
            <a:r>
              <a:rPr lang="en-IN" sz="6400" dirty="0" smtClean="0">
                <a:solidFill>
                  <a:schemeClr val="tx1"/>
                </a:solidFill>
                <a:latin typeface="Times New Roman" panose="02020603050405020304" pitchFamily="18" charset="0"/>
                <a:cs typeface="Times New Roman" panose="02020603050405020304" pitchFamily="18" charset="0"/>
              </a:rPr>
              <a:t>preprocessing, I conducted </a:t>
            </a:r>
            <a:r>
              <a:rPr lang="en-IN" sz="6400" dirty="0">
                <a:solidFill>
                  <a:schemeClr val="tx1"/>
                </a:solidFill>
                <a:latin typeface="Times New Roman" panose="02020603050405020304" pitchFamily="18" charset="0"/>
                <a:cs typeface="Times New Roman" panose="02020603050405020304" pitchFamily="18" charset="0"/>
              </a:rPr>
              <a:t>exploratory data analysis (EDA) by evaluating sales trends, </a:t>
            </a:r>
            <a:r>
              <a:rPr lang="en-IN" sz="6400" dirty="0" smtClean="0">
                <a:solidFill>
                  <a:schemeClr val="tx1"/>
                </a:solidFill>
                <a:latin typeface="Times New Roman" panose="02020603050405020304" pitchFamily="18" charset="0"/>
                <a:cs typeface="Times New Roman" panose="02020603050405020304" pitchFamily="18" charset="0"/>
              </a:rPr>
              <a:t>cost distributions (Operational, Storage and Transportation), </a:t>
            </a:r>
            <a:r>
              <a:rPr lang="en-IN" sz="6400" dirty="0">
                <a:solidFill>
                  <a:schemeClr val="tx1"/>
                </a:solidFill>
                <a:latin typeface="Times New Roman" panose="02020603050405020304" pitchFamily="18" charset="0"/>
                <a:cs typeface="Times New Roman" panose="02020603050405020304" pitchFamily="18" charset="0"/>
              </a:rPr>
              <a:t>delivery efficiency, </a:t>
            </a:r>
            <a:r>
              <a:rPr lang="en-IN" sz="6400" dirty="0">
                <a:solidFill>
                  <a:schemeClr val="tx1"/>
                </a:solidFill>
                <a:latin typeface="Times New Roman" panose="02020603050405020304" pitchFamily="18" charset="0"/>
                <a:cs typeface="Times New Roman" panose="02020603050405020304" pitchFamily="18" charset="0"/>
              </a:rPr>
              <a:t>d</a:t>
            </a:r>
            <a:r>
              <a:rPr lang="en-IN" sz="6400" dirty="0" smtClean="0">
                <a:solidFill>
                  <a:schemeClr val="tx1"/>
                </a:solidFill>
                <a:latin typeface="Times New Roman" panose="02020603050405020304" pitchFamily="18" charset="0"/>
                <a:cs typeface="Times New Roman" panose="02020603050405020304" pitchFamily="18" charset="0"/>
              </a:rPr>
              <a:t>emand gap by location, </a:t>
            </a:r>
            <a:r>
              <a:rPr lang="en-IN" sz="6400" dirty="0">
                <a:solidFill>
                  <a:schemeClr val="tx1"/>
                </a:solidFill>
                <a:latin typeface="Times New Roman" panose="02020603050405020304" pitchFamily="18" charset="0"/>
                <a:cs typeface="Times New Roman" panose="02020603050405020304" pitchFamily="18" charset="0"/>
              </a:rPr>
              <a:t>and stock utilization rates to discover critical business insights and key warehouse optimization opportunities.</a:t>
            </a:r>
          </a:p>
          <a:p>
            <a:pPr algn="just">
              <a:lnSpc>
                <a:spcPct val="120000"/>
              </a:lnSpc>
            </a:pPr>
            <a:r>
              <a:rPr lang="en-IN" sz="6400" dirty="0">
                <a:solidFill>
                  <a:schemeClr val="tx1"/>
                </a:solidFill>
                <a:latin typeface="Times New Roman" panose="02020603050405020304" pitchFamily="18" charset="0"/>
                <a:cs typeface="Times New Roman" panose="02020603050405020304" pitchFamily="18" charset="0"/>
              </a:rPr>
              <a:t>Function used : read_csv(), head(), shape, dtypes, columns, info(), isnull().sum(), duplicated().sum(), describe(), copy(), astype(), drop_duplicates(), groupby(), sum(), sort_values(), mean(), corr(), quantile(), clip(), unique(), plot(), idxmax(), idxmin() etc.</a:t>
            </a:r>
          </a:p>
          <a:p>
            <a:pPr algn="l">
              <a:lnSpc>
                <a:spcPct val="120000"/>
              </a:lnSpc>
            </a:pPr>
            <a:endParaRPr lang="en-US" sz="6400" b="1" dirty="0" smtClean="0">
              <a:solidFill>
                <a:schemeClr val="tx1"/>
              </a:solidFill>
            </a:endParaRPr>
          </a:p>
        </p:txBody>
      </p:sp>
    </p:spTree>
    <p:extLst>
      <p:ext uri="{BB962C8B-B14F-4D97-AF65-F5344CB8AC3E}">
        <p14:creationId xmlns:p14="http://schemas.microsoft.com/office/powerpoint/2010/main" val="991544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76002" y="150172"/>
            <a:ext cx="7935872" cy="898648"/>
          </a:xfrm>
        </p:spPr>
        <p:txBody>
          <a:bodyPr>
            <a:noAutofit/>
          </a:bodyPr>
          <a:lstStyle/>
          <a:p>
            <a:pPr algn="l">
              <a:spcBef>
                <a:spcPts val="1000"/>
              </a:spcBef>
              <a:buClr>
                <a:schemeClr val="accent1"/>
              </a:buClr>
              <a:buSzPct val="80000"/>
            </a:pPr>
            <a:r>
              <a:rPr lang="en-US" sz="4000" b="1" dirty="0" smtClean="0">
                <a:solidFill>
                  <a:schemeClr val="tx1"/>
                </a:solidFill>
                <a:latin typeface="Times New Roman" panose="02020603050405020304" pitchFamily="18" charset="0"/>
                <a:ea typeface="+mn-ea"/>
                <a:cs typeface="Times New Roman" panose="02020603050405020304" pitchFamily="18" charset="0"/>
              </a:rPr>
              <a:t>SQL Task</a:t>
            </a:r>
            <a:r>
              <a:rPr lang="en-US" sz="4400" b="1" dirty="0" smtClean="0">
                <a:solidFill>
                  <a:schemeClr val="tx1"/>
                </a:solidFill>
                <a:latin typeface="Times New Roman" panose="02020603050405020304" pitchFamily="18" charset="0"/>
                <a:ea typeface="+mn-ea"/>
                <a:cs typeface="Times New Roman" panose="02020603050405020304" pitchFamily="18" charset="0"/>
              </a:rPr>
              <a:t> </a:t>
            </a:r>
            <a:endParaRPr lang="en-IN" sz="4400" b="1" dirty="0">
              <a:solidFill>
                <a:schemeClr val="tx1"/>
              </a:solidFill>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1176002" y="1954875"/>
            <a:ext cx="7935872" cy="3021572"/>
          </a:xfrm>
        </p:spPr>
        <p:txBody>
          <a:bodyPr>
            <a:normAutofit fontScale="92500" lnSpcReduction="10000"/>
          </a:bodyPr>
          <a:lstStyle/>
          <a:p>
            <a:pPr algn="just"/>
            <a:r>
              <a:rPr lang="en-US" b="1" dirty="0" smtClean="0">
                <a:solidFill>
                  <a:schemeClr val="tx1"/>
                </a:solidFill>
                <a:latin typeface="Times New Roman" panose="02020603050405020304" pitchFamily="18" charset="0"/>
                <a:cs typeface="Times New Roman" panose="02020603050405020304" pitchFamily="18" charset="0"/>
              </a:rPr>
              <a:t>Analysis (Using SQL Queries</a:t>
            </a:r>
            <a:r>
              <a:rPr lang="en-US" b="1" dirty="0" smtClean="0">
                <a:solidFill>
                  <a:schemeClr val="tx1"/>
                </a:solidFill>
                <a:latin typeface="Times New Roman" panose="02020603050405020304" pitchFamily="18" charset="0"/>
                <a:cs typeface="Times New Roman" panose="02020603050405020304" pitchFamily="18" charset="0"/>
              </a:rPr>
              <a:t>):</a:t>
            </a:r>
          </a:p>
          <a:p>
            <a:pPr algn="just">
              <a:lnSpc>
                <a:spcPct val="110000"/>
              </a:lnSpc>
            </a:pPr>
            <a:r>
              <a:rPr lang="en-US" sz="1700" dirty="0">
                <a:solidFill>
                  <a:schemeClr val="tx1"/>
                </a:solidFill>
                <a:latin typeface="Times New Roman" panose="02020603050405020304" pitchFamily="18" charset="0"/>
                <a:cs typeface="Times New Roman" panose="02020603050405020304" pitchFamily="18" charset="0"/>
              </a:rPr>
              <a:t>Load ‘Business_Operations_Analyst_data’ table in SQL Server database and performed initial data preprocessing, including checking null values, detecting duplicate rows, standardizing text fields, truncating out-of-bounds metrics with CASE statements and building a clean, feature-engineered database view for the downstream analytical operational business queries. After preprocessing, I conducted exploratory data analysis (EDA) by querying delivery delays, stockout risk locations, product-wise sales aggregations, cost vs profit metrics and demand-stock gaps to discover patterns and characteristics of the dataset.</a:t>
            </a:r>
          </a:p>
          <a:p>
            <a:pPr algn="just">
              <a:lnSpc>
                <a:spcPct val="110000"/>
              </a:lnSpc>
            </a:pPr>
            <a:r>
              <a:rPr lang="en-US" sz="1700" dirty="0">
                <a:solidFill>
                  <a:schemeClr val="tx1"/>
                </a:solidFill>
                <a:latin typeface="Times New Roman" panose="02020603050405020304" pitchFamily="18" charset="0"/>
                <a:cs typeface="Times New Roman" panose="02020603050405020304" pitchFamily="18" charset="0"/>
              </a:rPr>
              <a:t>Function used : USE, SELECT, COUNT(*), COUNT(), GROUP BY, HAVING, CREATE VIEW, ALTER VIEW, WITH, ROW_NUMBER(), OVER(), PARTITION BY, ORDER BY, TRIM(), CASE, WHEN, THEN, ELSE, END, CAST(), AVG(), SUM(), ROUND() etc.</a:t>
            </a:r>
          </a:p>
          <a:p>
            <a:pPr algn="just">
              <a:lnSpc>
                <a:spcPct val="110000"/>
              </a:lnSpc>
            </a:pPr>
            <a:endParaRPr lang="en-US" sz="1700" b="1" dirty="0" smtClean="0">
              <a:solidFill>
                <a:schemeClr val="tx1"/>
              </a:solidFill>
            </a:endParaRPr>
          </a:p>
          <a:p>
            <a:pPr algn="just"/>
            <a:endParaRPr lang="en-US" sz="19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00164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76002" y="150172"/>
            <a:ext cx="7935872" cy="898648"/>
          </a:xfrm>
        </p:spPr>
        <p:txBody>
          <a:bodyPr>
            <a:noAutofit/>
          </a:bodyPr>
          <a:lstStyle/>
          <a:p>
            <a:pPr algn="l">
              <a:spcBef>
                <a:spcPts val="1000"/>
              </a:spcBef>
              <a:buClr>
                <a:schemeClr val="accent1"/>
              </a:buClr>
              <a:buSzPct val="80000"/>
            </a:pPr>
            <a:r>
              <a:rPr lang="en-US" sz="4000" b="1" dirty="0" smtClean="0">
                <a:solidFill>
                  <a:schemeClr val="tx1"/>
                </a:solidFill>
                <a:latin typeface="Times New Roman" panose="02020603050405020304" pitchFamily="18" charset="0"/>
                <a:ea typeface="+mn-ea"/>
                <a:cs typeface="Times New Roman" panose="02020603050405020304" pitchFamily="18" charset="0"/>
              </a:rPr>
              <a:t>Power BI Task</a:t>
            </a:r>
            <a:r>
              <a:rPr lang="en-US" sz="4400" b="1" dirty="0" smtClean="0">
                <a:solidFill>
                  <a:schemeClr val="tx1"/>
                </a:solidFill>
                <a:latin typeface="Times New Roman" panose="02020603050405020304" pitchFamily="18" charset="0"/>
                <a:ea typeface="+mn-ea"/>
                <a:cs typeface="Times New Roman" panose="02020603050405020304" pitchFamily="18" charset="0"/>
              </a:rPr>
              <a:t> </a:t>
            </a:r>
            <a:endParaRPr lang="en-IN" sz="4400" b="1" dirty="0">
              <a:solidFill>
                <a:schemeClr val="tx1"/>
              </a:solidFill>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1176002" y="1758461"/>
            <a:ext cx="7935872" cy="3886200"/>
          </a:xfrm>
        </p:spPr>
        <p:txBody>
          <a:bodyPr>
            <a:normAutofit fontScale="25000" lnSpcReduction="20000"/>
          </a:bodyPr>
          <a:lstStyle/>
          <a:p>
            <a:pPr algn="l"/>
            <a:r>
              <a:rPr lang="en-US" sz="6400" b="1" dirty="0" smtClean="0">
                <a:solidFill>
                  <a:schemeClr val="tx1"/>
                </a:solidFill>
                <a:latin typeface="Times New Roman" panose="02020603050405020304" pitchFamily="18" charset="0"/>
                <a:cs typeface="Times New Roman" panose="02020603050405020304" pitchFamily="18" charset="0"/>
              </a:rPr>
              <a:t>Supply Chain Management Dashboard (Using Power BI</a:t>
            </a:r>
            <a:r>
              <a:rPr lang="en-US" sz="6400" b="1" dirty="0" smtClean="0">
                <a:solidFill>
                  <a:schemeClr val="tx1"/>
                </a:solidFill>
                <a:latin typeface="Times New Roman" panose="02020603050405020304" pitchFamily="18" charset="0"/>
                <a:cs typeface="Times New Roman" panose="02020603050405020304" pitchFamily="18" charset="0"/>
              </a:rPr>
              <a:t>)</a:t>
            </a:r>
          </a:p>
          <a:p>
            <a:pPr algn="just">
              <a:lnSpc>
                <a:spcPct val="110000"/>
              </a:lnSpc>
            </a:pPr>
            <a:r>
              <a:rPr lang="en-US" sz="6400" dirty="0" smtClean="0">
                <a:solidFill>
                  <a:schemeClr val="tx1"/>
                </a:solidFill>
                <a:latin typeface="Times New Roman" panose="02020603050405020304" pitchFamily="18" charset="0"/>
                <a:cs typeface="Times New Roman" panose="02020603050405020304" pitchFamily="18" charset="0"/>
              </a:rPr>
              <a:t>Load </a:t>
            </a:r>
            <a:r>
              <a:rPr lang="en-US" sz="6400" dirty="0">
                <a:solidFill>
                  <a:schemeClr val="tx1"/>
                </a:solidFill>
                <a:latin typeface="Times New Roman" panose="02020603050405020304" pitchFamily="18" charset="0"/>
                <a:cs typeface="Times New Roman" panose="02020603050405020304" pitchFamily="18" charset="0"/>
              </a:rPr>
              <a:t>‘Business_Operations_Analyst_data’ </a:t>
            </a:r>
            <a:r>
              <a:rPr lang="en-US" sz="6400" dirty="0" smtClean="0">
                <a:solidFill>
                  <a:schemeClr val="tx1"/>
                </a:solidFill>
                <a:latin typeface="Times New Roman" panose="02020603050405020304" pitchFamily="18" charset="0"/>
                <a:cs typeface="Times New Roman" panose="02020603050405020304" pitchFamily="18" charset="0"/>
              </a:rPr>
              <a:t> into </a:t>
            </a:r>
            <a:r>
              <a:rPr lang="en-US" sz="6400" dirty="0">
                <a:solidFill>
                  <a:schemeClr val="tx1"/>
                </a:solidFill>
                <a:latin typeface="Times New Roman" panose="02020603050405020304" pitchFamily="18" charset="0"/>
                <a:cs typeface="Times New Roman" panose="02020603050405020304" pitchFamily="18" charset="0"/>
              </a:rPr>
              <a:t>Power BI Desktop and performed data cleaning and transformation using Power Query Editor, including handling missing values, removing duplicates, correcting data types, and creating calculated columns and DAX measures. </a:t>
            </a:r>
            <a:r>
              <a:rPr lang="en-US" sz="6400" dirty="0">
                <a:solidFill>
                  <a:schemeClr val="tx1"/>
                </a:solidFill>
                <a:latin typeface="Times New Roman" panose="02020603050405020304" pitchFamily="18" charset="0"/>
                <a:cs typeface="Times New Roman" panose="02020603050405020304" pitchFamily="18" charset="0"/>
              </a:rPr>
              <a:t>I faced challenges in analyzing multiple warehouse operations, inventory performance, supplier efficiency, and financial metrics across different locations and product categories.</a:t>
            </a:r>
          </a:p>
          <a:p>
            <a:pPr algn="just">
              <a:lnSpc>
                <a:spcPct val="110000"/>
              </a:lnSpc>
            </a:pPr>
            <a:r>
              <a:rPr lang="en-US" sz="6400" dirty="0">
                <a:solidFill>
                  <a:schemeClr val="tx1"/>
                </a:solidFill>
                <a:latin typeface="Times New Roman" panose="02020603050405020304" pitchFamily="18" charset="0"/>
                <a:cs typeface="Times New Roman" panose="02020603050405020304" pitchFamily="18" charset="0"/>
              </a:rPr>
              <a:t>To solve this, I developed an interactive dashboard using slicers, KPI cards, DAX measures, tables, line charts, bar charts, treemaps, scatter plots, gauge charts, and donut charts, enabling dynamic analysis of warehouse performance, inventory utilization, stock status, risk levels, product-wise cost distribution, sales trends, customer ratings, supplier performance, and profitability.</a:t>
            </a:r>
          </a:p>
          <a:p>
            <a:pPr algn="just">
              <a:lnSpc>
                <a:spcPct val="110000"/>
              </a:lnSpc>
            </a:pPr>
            <a:r>
              <a:rPr lang="en-US" sz="6400" dirty="0">
                <a:solidFill>
                  <a:schemeClr val="tx1"/>
                </a:solidFill>
                <a:latin typeface="Times New Roman" panose="02020603050405020304" pitchFamily="18" charset="0"/>
                <a:cs typeface="Times New Roman" panose="02020603050405020304" pitchFamily="18" charset="0"/>
              </a:rPr>
              <a:t>The dashboard highlights top-performing warehouses, cost </a:t>
            </a:r>
            <a:r>
              <a:rPr lang="en-US" sz="6400" dirty="0" smtClean="0">
                <a:solidFill>
                  <a:schemeClr val="tx1"/>
                </a:solidFill>
                <a:latin typeface="Times New Roman" panose="02020603050405020304" pitchFamily="18" charset="0"/>
                <a:cs typeface="Times New Roman" panose="02020603050405020304" pitchFamily="18" charset="0"/>
              </a:rPr>
              <a:t>vs </a:t>
            </a:r>
            <a:r>
              <a:rPr lang="en-US" sz="6400" dirty="0">
                <a:solidFill>
                  <a:schemeClr val="tx1"/>
                </a:solidFill>
                <a:latin typeface="Times New Roman" panose="02020603050405020304" pitchFamily="18" charset="0"/>
                <a:cs typeface="Times New Roman" panose="02020603050405020304" pitchFamily="18" charset="0"/>
              </a:rPr>
              <a:t>sales </a:t>
            </a:r>
            <a:r>
              <a:rPr lang="en-US" sz="6400" dirty="0" smtClean="0">
                <a:solidFill>
                  <a:schemeClr val="tx1"/>
                </a:solidFill>
                <a:latin typeface="Times New Roman" panose="02020603050405020304" pitchFamily="18" charset="0"/>
                <a:cs typeface="Times New Roman" panose="02020603050405020304" pitchFamily="18" charset="0"/>
              </a:rPr>
              <a:t>vs </a:t>
            </a:r>
            <a:r>
              <a:rPr lang="en-US" sz="6400" dirty="0">
                <a:solidFill>
                  <a:schemeClr val="tx1"/>
                </a:solidFill>
                <a:latin typeface="Times New Roman" panose="02020603050405020304" pitchFamily="18" charset="0"/>
                <a:cs typeface="Times New Roman" panose="02020603050405020304" pitchFamily="18" charset="0"/>
              </a:rPr>
              <a:t>profit relationships, lead time versus stockout risk, stock utilization against target, product category performance, risk level distribution, and warehouse-wise operational insights, supporting efficient inventory management, supply chain optimization, and data-driven business decision-making.</a:t>
            </a:r>
          </a:p>
          <a:p>
            <a:pPr algn="just">
              <a:lnSpc>
                <a:spcPct val="90000"/>
              </a:lnSpc>
            </a:pPr>
            <a:endParaRPr lang="en-US" sz="6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7832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89385" y="2664772"/>
            <a:ext cx="4730262" cy="898648"/>
          </a:xfrm>
        </p:spPr>
        <p:txBody>
          <a:bodyPr>
            <a:noAutofit/>
          </a:bodyPr>
          <a:lstStyle/>
          <a:p>
            <a:pPr algn="ctr">
              <a:spcBef>
                <a:spcPts val="1000"/>
              </a:spcBef>
              <a:buClr>
                <a:schemeClr val="accent1"/>
              </a:buClr>
              <a:buSzPct val="80000"/>
            </a:pPr>
            <a:r>
              <a:rPr lang="en-US" sz="7200" b="1" dirty="0" smtClean="0">
                <a:solidFill>
                  <a:schemeClr val="tx1"/>
                </a:solidFill>
                <a:latin typeface="Times New Roman" panose="02020603050405020304" pitchFamily="18" charset="0"/>
                <a:ea typeface="+mn-ea"/>
                <a:cs typeface="Times New Roman" panose="02020603050405020304" pitchFamily="18" charset="0"/>
              </a:rPr>
              <a:t>Thank You</a:t>
            </a:r>
            <a:endParaRPr lang="en-IN" sz="6600" b="1" dirty="0">
              <a:solidFill>
                <a:schemeClr val="tx1"/>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87378007"/>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2719</TotalTime>
  <Words>568</Words>
  <Application>Microsoft Office PowerPoint</Application>
  <PresentationFormat>Widescreen</PresentationFormat>
  <Paragraphs>31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Times New Roman</vt:lpstr>
      <vt:lpstr>Trebuchet MS</vt:lpstr>
      <vt:lpstr>Wingdings 3</vt:lpstr>
      <vt:lpstr>Facet</vt:lpstr>
      <vt:lpstr>Apana Time Tech Solutions</vt:lpstr>
      <vt:lpstr>Dataset Overview</vt:lpstr>
      <vt:lpstr>Python Task </vt:lpstr>
      <vt:lpstr>SQL Task </vt:lpstr>
      <vt:lpstr>Power BI Task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on Task -1</dc:title>
  <dc:creator>sujal_sahu</dc:creator>
  <cp:lastModifiedBy>sujal_sahu</cp:lastModifiedBy>
  <cp:revision>70</cp:revision>
  <dcterms:created xsi:type="dcterms:W3CDTF">2026-04-30T17:42:29Z</dcterms:created>
  <dcterms:modified xsi:type="dcterms:W3CDTF">2026-07-04T10:48:39Z</dcterms:modified>
</cp:coreProperties>
</file>